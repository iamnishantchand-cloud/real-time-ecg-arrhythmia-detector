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D3"/>
                </a:solidFill>
                <a:latin typeface="Segoe UI"/>
              </a:defRPr>
            </a:pPr>
            <a:r>
              <a:t>Real-Time AI ECG Arrhythmia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Complete Project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A beginner-friendly guide to every aspect of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No prior knowledge of AI, medicine, or programming is assumed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rPr dirty="0"/>
              <a:t>What You'll Learn</a:t>
            </a:r>
            <a:r>
              <a:rPr lang="en-US" dirty="0"/>
              <a:t> ( PADHAI LIKHAI KARO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5029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1.  What Problem Does This Solve?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2.  What is an ECG?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3.  What is an Arrhythmia?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4.  The 5 Types of Heartbeats We Detect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5.  Where Does the Data Come From?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6.  How Data is Prepared (data_prep.py)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323119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Segoe UI"/>
              </a:defRPr>
            </a:pPr>
            <a:r>
              <a:t>7.   How the AI Model Works (train_model.py)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8.   The Dual-Input Architecture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9.   How the Dashboard Works (app.py)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10.  Noise Robustness Testing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11.  External Validation (INCART)</a:t>
            </a:r>
          </a:p>
          <a:p>
            <a:pPr>
              <a:spcBef>
                <a:spcPts val="1400"/>
              </a:spcBef>
              <a:defRPr sz="1700" b="0">
                <a:solidFill>
                  <a:srgbClr val="FFFFFF"/>
                </a:solidFill>
                <a:latin typeface="Segoe UI"/>
              </a:defRPr>
            </a:pPr>
            <a:r>
              <a:t>12.  Key Results &amp; What They Mean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1. What Problem Does This Solve?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Imagine you're a nurse in a hospital ICU. You're watching 8 patient screens simultaneously. Each screen shows a squiggly green line - the patient's heartbeat. Your job is to spot the ONE dangerous heartbeat among thousands of normal ones.</a:t>
            </a:r>
          </a:p>
          <a:p>
            <a:pPr>
              <a:spcBef>
                <a:spcPts val="600"/>
              </a:spcBef>
              <a:defRPr sz="8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800" b="1">
                <a:solidFill>
                  <a:srgbClr val="EE5555"/>
                </a:solidFill>
                <a:latin typeface="Segoe UI"/>
              </a:defRPr>
            </a:pPr>
            <a:r>
              <a:t>Miss it, and the patient could die.</a:t>
            </a:r>
          </a:p>
          <a:p>
            <a:pPr>
              <a:spcBef>
                <a:spcPts val="600"/>
              </a:spcBef>
              <a:defRPr sz="8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Segoe UI"/>
              </a:defRPr>
            </a:pPr>
            <a:r>
              <a:t>Hospitals report that nurses ignore up to 90% of alarms due to "alarm fatigue" - too many false alerts.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2560320"/>
          </a:xfrm>
          <a:prstGeom prst="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Segoe UI"/>
              </a:defRPr>
            </a:pPr>
            <a:r>
              <a:t>OUR SOLUTION</a:t>
            </a:r>
          </a:p>
          <a:p>
            <a:pPr>
              <a:spcBef>
                <a:spcPts val="10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An AI system that watches every single heartbeat, classifies it instantly (&lt; 5 milliseconds), and only alerts doctors when something is genuinely wrong.</a:t>
            </a:r>
          </a:p>
          <a:p>
            <a:pPr>
              <a:spcBef>
                <a:spcPts val="600"/>
              </a:spcBef>
              <a:defRPr sz="8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700" b="1">
                <a:solidFill>
                  <a:srgbClr val="00E676"/>
                </a:solidFill>
                <a:latin typeface="Segoe UI"/>
              </a:defRPr>
            </a:pPr>
            <a:r>
              <a:t>It never gets tired. Never gets distracted. Catches 98.8% of dangerous heartbeats.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2. What is an ECG?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An ECG (Electrocardiogram) records the electrical activity of your heart.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Every time your heart beats, an electrical signal travels through it, making the heart muscles contract and pump blood.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An ECG machine captures these signals through small sticky patches (electrodes) on your chest. The result is the familiar 'heartbeat line' on hospital monitors.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The PQRST Wave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Each heartbeat creates a specific pattern: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P wave - Upper chambers contract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QRS complex - Main chambers contract (big spike)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 wave - Heart recovers for next beat</a:t>
            </a:r>
          </a:p>
          <a:p>
            <a:pPr>
              <a:spcBef>
                <a:spcPts val="600"/>
              </a:spcBef>
              <a:defRPr sz="1300" b="1">
                <a:solidFill>
                  <a:srgbClr val="00D2D3"/>
                </a:solidFill>
                <a:latin typeface="Segoe UI"/>
              </a:defRPr>
            </a:pPr>
            <a:r>
              <a:t>R-peak - The tallest point, marks each beat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Key Numbers</a:t>
            </a:r>
          </a:p>
          <a:p>
            <a:pPr>
              <a:spcBef>
                <a:spcPts val="10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Signal measured in millivolts (mV) - tiny electrical voltages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MIT-BIH records at 360 samples per second (360 Hz) - 360 measurements every second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A 30-minute recording = 648,000 data points per patient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Our AI processes each heartbeat as a window of 250 samples (~0.7 seconds)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3. What is an Arrhythmia?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An arrhythmia is any heartbeat that doesn't follow the normal rhythm.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Segoe UI"/>
              </a:defRPr>
            </a:pPr>
            <a:r>
              <a:t>Think of your heart like a drummer keeping a steady beat. An arrhythmia is like the drummer suddenly hitting an extra beat, skipping a beat, or beating in a weird pattern.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BBBBCC"/>
                </a:solidFill>
                <a:latin typeface="Segoe UI"/>
              </a:defRPr>
            </a:pPr>
            <a:r>
              <a:t>Some arrhythmias are harmless (everyone has occasional skipped beats). Others can be life-threatening.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11247120" cy="32004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The 5 Types We Detect (AAMI Standard)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400" b="0">
                <a:solidFill>
                  <a:srgbClr val="00E676"/>
                </a:solidFill>
                <a:latin typeface="Segoe UI"/>
              </a:defRPr>
            </a:pPr>
            <a:r>
              <a:t>N - Normal Beat:  Heart beating normally from the right place  [SAFE]</a:t>
            </a:r>
          </a:p>
          <a:p>
            <a:pPr>
              <a:spcBef>
                <a:spcPts val="600"/>
              </a:spcBef>
              <a:defRPr sz="1400" b="0">
                <a:solidFill>
                  <a:srgbClr val="FFA502"/>
                </a:solidFill>
                <a:latin typeface="Segoe UI"/>
              </a:defRPr>
            </a:pPr>
            <a:r>
              <a:t>S - Supraventricular:  Beat from the upper chambers instead of the normal pacemaker  [MODERATE]</a:t>
            </a:r>
          </a:p>
          <a:p>
            <a:pPr>
              <a:spcBef>
                <a:spcPts val="600"/>
              </a:spcBef>
              <a:defRPr sz="1400" b="1">
                <a:solidFill>
                  <a:srgbClr val="EE5555"/>
                </a:solidFill>
                <a:latin typeface="Segoe UI"/>
              </a:defRPr>
            </a:pPr>
            <a:r>
              <a:t>V - Ventricular (PVC):  Beat from the lower chambers - the WRONG place  [DANGEROUS]</a:t>
            </a:r>
          </a:p>
          <a:p>
            <a:pPr>
              <a:spcBef>
                <a:spcPts val="600"/>
              </a:spcBef>
              <a:defRPr sz="1400" b="0">
                <a:solidFill>
                  <a:srgbClr val="BB86FC"/>
                </a:solidFill>
                <a:latin typeface="Segoe UI"/>
              </a:defRPr>
            </a:pPr>
            <a:r>
              <a:t>F - Fusion:  A normal beat and ventricular beat happen simultaneously  [CONCERNING]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Q - Unknown/Paced:  Unclassifiable beat, or from an artificial pacemaker  [DEPENDS]</a:t>
            </a:r>
          </a:p>
          <a:p>
            <a:pPr>
              <a:spcBef>
                <a:spcPts val="600"/>
              </a:spcBef>
              <a:defRPr sz="8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EE5555"/>
                </a:solidFill>
                <a:latin typeface="Segoe UI"/>
              </a:defRPr>
            </a:pPr>
            <a:r>
              <a:t>PVCs are the most clinically dangerous. If the abnormal electrical source wins too often, it can cause ventricular fibrillation (heart quivers instead of pumping) - fatal within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4. Where Does the Data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MIT-BIH Arrhythmia Database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The gold standard for ECG research since 1980</a:t>
            </a:r>
          </a:p>
          <a:p>
            <a:pPr>
              <a:spcBef>
                <a:spcPts val="8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48 patient recordings, 30 minutes each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Recorded at 360 Hz (360 samples/second)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Every beat manually labeled by 2 cardiologists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Used in 5,000+ research papers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Free from PhysioNet (no licensing issues)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0352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INCART Database (External Test)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Used to prove our model generalizes</a:t>
            </a:r>
          </a:p>
          <a:p>
            <a:pPr>
              <a:spcBef>
                <a:spcPts val="8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75 patients from St. Petersburg, Russia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Different hospital, different equipment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173,476 beats - completely unseen data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Different sampling rate (257 Hz vs 360 Hz)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2A1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E5555"/>
                </a:solidFill>
                <a:latin typeface="Segoe UI"/>
              </a:defRPr>
            </a:pPr>
            <a:r>
              <a:t>WHY PATIENT-LEVEL SPLITTING MATTERS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Training: 43 patients  |  Testing: 5 completely separate patients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The AI has NEVER seen the test patients' hearts during training. This is critical because: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If you mix beats from the same patient in train and test, the AI memorizes the patient's unique heart shape - not the arrhythmia. Many papers do this and report misleading 99%+ accuracy. Our 82% on truly unseen patients is more honest and more useful.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5. How Data is Prepared (data_prep.py)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Segoe UI"/>
              </a:defRPr>
            </a:pPr>
            <a:r>
              <a:t>This is the FIRST script you run - it downloads and processes the raw ECG recordings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1: Download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Download 48 patient recordings from PhysioNet (free medical data repository)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2: Segment Beats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Find each R-peak (heartbeat marker) and cut a 250-sample window around it: 100 samples before + 150 after. Each window = 1 heartbeat.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3: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Scale each beat to 0-1 range so the AI focuses on SHAPE, not amplitude. Different patients have different signal strengths.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4: RR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Compute 4 timing features per beat: pre_RR (time since last beat), post_RR (time to next), local_avg_RR (average nearby), prematurity ratio.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93192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5: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Map cardiologist annotations to 5 AAMI classes: N, S, V, F, Q.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931920"/>
            <a:ext cx="356616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D3"/>
                </a:solidFill>
                <a:latin typeface="Segoe UI"/>
              </a:defRPr>
            </a:pPr>
            <a:r>
              <a:t>Step 6: Save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8055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Save as .npy files: X_train (97,714 beats), y_train (labels), RR_train (timing features), plus test set and demo recordings.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6. How the AI Model Works (train_model.py)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What is a Neural Network?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A neural network is like a complex filter. You show it thousands of examples with correct answers, and it slowly adjusts its internal settings until it can predict the right answer on its own.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Like teaching a child dog breeds with photos - after enough examples, they recognize breeds in new photos they've never seen.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What is a 1D-CNN?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CNN = Convolutional Neural Network. A small 'sliding window' moves across the heartbeat signal, computing how much each part matches patterns it's looking for.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Layer 1: Detects simple features (spikes, slopes)</a:t>
            </a:r>
            <a:br/>
            <a:r>
              <a:t>Layer 2: Detects QRS patterns, T-wave shapes</a:t>
            </a:r>
            <a:br/>
            <a:r>
              <a:t>Layer 3: Detects overall beat type (Normal vs PVC)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36576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Residual (Skip) Connections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Deep networks suffer from 'vanishing gradients' - information gets diluted through many layers.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Skip connections add shortcuts that let information bypass layers. This allows deeper, more powerful networks.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00D2D3"/>
                </a:solidFill>
                <a:latin typeface="Segoe UI"/>
              </a:defRPr>
            </a:pPr>
            <a:r>
              <a:t>Our model uses 3 residual blocks (64, 128, 256 filters).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3657600"/>
            <a:ext cx="36576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Focal Loss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82% of beats are Normal. A lazy AI could predict 'Normal' always and be 82% accurate - but miss every arrhythmia!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Focal Loss forces the AI to focus on rare, hard cases. Easy Normal beats get tiny penalties. Missed PVCs get HUGE penalties.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00D2D3"/>
                </a:solidFill>
                <a:latin typeface="Segoe UI"/>
              </a:defRPr>
            </a:pPr>
            <a:r>
              <a:t>Like a teacher who spends more time on topics students struggle with.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3657600"/>
            <a:ext cx="338328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Data Augmentation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Rare classes have few examples. We create more by slightly modifying existing ones: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1. Add tiny random noise</a:t>
            </a:r>
            <a:br/>
            <a:r>
              <a:t>2. Scale amplitude (+/-15%)</a:t>
            </a:r>
            <a:br/>
            <a:r>
              <a:t>3. Shift timing (+/-5 samples)</a:t>
            </a:r>
          </a:p>
          <a:p>
            <a:pPr>
              <a:spcBef>
                <a:spcPts val="600"/>
              </a:spcBef>
              <a:defRPr sz="4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1">
                <a:solidFill>
                  <a:srgbClr val="00D2D3"/>
                </a:solidFill>
                <a:latin typeface="Segoe UI"/>
              </a:defRPr>
            </a:pPr>
            <a:r>
              <a:t>Grows training set from 97K to 218K beats.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7. Dual-Input Architecture - Our Secret Weapon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E5555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Most ECG AI models look ONLY at the beat waveform shape.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But cardiologists also look at RHYTHM - how the beat relates to its neighbors in time:</a:t>
            </a:r>
          </a:p>
          <a:p>
            <a:pPr>
              <a:spcBef>
                <a:spcPts val="800"/>
              </a:spcBef>
              <a:defRPr sz="1300" b="0">
                <a:solidFill>
                  <a:srgbClr val="FFA502"/>
                </a:solidFill>
                <a:latin typeface="Segoe UI"/>
              </a:defRPr>
            </a:pPr>
            <a:r>
              <a:t>'This beat came too early' = might be premature (PVC)</a:t>
            </a:r>
          </a:p>
          <a:p>
            <a:pPr>
              <a:spcBef>
                <a:spcPts val="600"/>
              </a:spcBef>
              <a:defRPr sz="1300" b="0">
                <a:solidFill>
                  <a:srgbClr val="FFA502"/>
                </a:solidFill>
                <a:latin typeface="Segoe UI"/>
              </a:defRPr>
            </a:pPr>
            <a:r>
              <a:t>'Long pause after this beat' = compensatory pause (confirms PVC)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3035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Segoe UI"/>
              </a:defRPr>
            </a:pPr>
            <a:r>
              <a:t>Our Solution: Two Inputs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Branch 1 (CNN): Learns what the beat LOOKS like (morphology/shape)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Branch 2 (Dense): Learns what the beat's TIMING tells us (rhythm)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00E676"/>
                </a:solidFill>
                <a:latin typeface="Segoe UI"/>
              </a:defRPr>
            </a:pPr>
            <a:r>
              <a:t>Together, they make better decisions - just like a cardiologist who considers both shape AND rhythm.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47120" cy="292608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Architecture Diagram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00D2D3"/>
                </a:solidFill>
                <a:latin typeface="Segoe UI"/>
              </a:defRPr>
            </a:pPr>
            <a:r>
              <a:t>INPUT 1: Beat Waveform (250 samples)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Conv1D(64,7) -&gt; ResBlock(64) -&gt; ResBlock(128) -&gt; ResBlock(256) -&gt; GlobalAvgPool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                                                                        |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                                                                    CONCATENATE -&gt; Dense(256) -&gt; Dropout -&gt; Dense(128) -&gt; Softmax(5)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                                                                        |</a:t>
            </a:r>
          </a:p>
          <a:p>
            <a:pPr>
              <a:spcBef>
                <a:spcPts val="600"/>
              </a:spcBef>
              <a:defRPr sz="1400" b="1">
                <a:solidFill>
                  <a:srgbClr val="00D2D3"/>
                </a:solidFill>
                <a:latin typeface="Segoe UI"/>
              </a:defRPr>
            </a:pPr>
            <a:r>
              <a:t>INPUT 2: RR Features (4 numbers)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Dense(16) -&gt; BatchNorm -&gt; Dense(8) ----------------------------------------+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0">
                <a:solidFill>
                  <a:srgbClr val="00E676"/>
                </a:solidFill>
                <a:latin typeface="Segoe UI"/>
              </a:defRPr>
            </a:pPr>
            <a:r>
              <a:t>RR features are patient-independent: PVC timing (early beat + pause) is universal regardless of waveform shape.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8. How the Dashboard Works (app.py)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Tab 1: Live Monitor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Simulates a real hospital bedside monitor:</a:t>
            </a:r>
          </a:p>
          <a:p>
            <a:pPr>
              <a:spcBef>
                <a:spcPts val="8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1. Select a patient recording from dropdown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2. Click Play - ECG scrolls across screen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3. Each beat classified in real-time: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 Green = Normal | Red = PVC | Orange = SVE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4. Live heart rate + arrhythmia count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5. Alert log for every abnormal beat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Segoe UI"/>
              </a:defRPr>
            </a:pPr>
            <a:r>
              <a:t>Tab 2: Model Performance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Shows the AI's test results:</a:t>
            </a:r>
          </a:p>
          <a:p>
            <a:pPr>
              <a:spcBef>
                <a:spcPts val="8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Confusion Matrix - predictions vs reality grid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Per-class precision, recall, F1-score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Training accuracy curves over epochs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Class distribution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How Inference Works (Behind the Scenes)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1. Load recording -&gt; 2. Feed ALL beats + RR features through model at once (batch prediction) -&gt; 3. Model outputs probabilities [P(N), P(S), P(V), P(F), P(Q)] -&gt; 4. Cache results -&gt; 5. During playback, just display cached results frame by frame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00E676"/>
                </a:solidFill>
                <a:latin typeface="Segoe UI"/>
              </a:defRPr>
            </a:pPr>
            <a:r>
              <a:t>KEY INSIGHT: All inference runs ONCE when you select a recording, not during playback. That's why animation is smooth.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9. Noise Robustness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Why Test With Noise?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In real hospitals, ECG signals are never perfectly clean. Patients move, electrodes shift, machines interfere. A model that works on clean data but fails on noisy data is useless.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48640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3 Types of Noise We Test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Gaussian - Random static (like radio interference)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Baseline Wander - Slow drift from breathing/movement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Muscle Artifact - High-freq noise from fidgeting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338328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Results: Accuracy at Different Noise Levels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1">
                <a:solidFill>
                  <a:srgbClr val="00D2D3"/>
                </a:solidFill>
                <a:latin typeface="Segoe UI"/>
              </a:defRPr>
            </a:pPr>
            <a:r>
              <a:t>SNR (dB)     Gaussian    Baseline Wander    Muscle Artifact    Combined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Clean          81.1%         81.1%              81.1%            81.1%</a:t>
            </a:r>
          </a:p>
          <a:p>
            <a:pPr>
              <a:spcBef>
                <a:spcPts val="600"/>
              </a:spcBef>
              <a:defRPr sz="1300" b="0">
                <a:solidFill>
                  <a:srgbClr val="00E676"/>
                </a:solidFill>
                <a:latin typeface="Segoe UI"/>
              </a:defRPr>
            </a:pPr>
            <a:r>
              <a:t>30 dB         79.3%         81.3%              80.3%            80.7%     (typical hospital)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20 dB         15.4%         81.6%              26.3%            25.1%</a:t>
            </a:r>
          </a:p>
          <a:p>
            <a:pPr>
              <a:spcBef>
                <a:spcPts val="600"/>
              </a:spcBef>
              <a:defRPr sz="1300" b="0">
                <a:solidFill>
                  <a:srgbClr val="BBBBCC"/>
                </a:solidFill>
                <a:latin typeface="Segoe UI"/>
              </a:defRPr>
            </a:pPr>
            <a:r>
              <a:t>10 dB           2.1%         81.4%                2.0%              3.1%</a:t>
            </a:r>
          </a:p>
          <a:p>
            <a:pPr>
              <a:spcBef>
                <a:spcPts val="600"/>
              </a:spcBef>
              <a:defRPr sz="1300" b="0">
                <a:solidFill>
                  <a:srgbClr val="FFA502"/>
                </a:solidFill>
                <a:latin typeface="Segoe UI"/>
              </a:defRPr>
            </a:pPr>
            <a:r>
              <a:t>  0 dB           1.3%         71.3%                9.7%              2.3%     (extreme noise)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00E676"/>
                </a:solidFill>
                <a:latin typeface="Segoe UI"/>
              </a:defRPr>
            </a:pPr>
            <a:r>
              <a:t>Key finding: Model is very robust to baseline wander (71.3% even at 0dB!) - the most common real-world noise source.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10. External Validation (INCART Database)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Why External Validation?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Training and testing on the same database is like studying for an exam using the exact textbook the exam comes from.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We tested on INCART - a completely different hospital (Russia vs USA), different equipment, different patients. This proves real generalization.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INCART Results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600" b="1">
                <a:solidFill>
                  <a:srgbClr val="00E676"/>
                </a:solidFill>
                <a:latin typeface="Segoe UI"/>
              </a:defRPr>
            </a:pPr>
            <a:r>
              <a:t>87% overall accuracy on 173,476 beats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Normal beats: correctly identified across databases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Arrhythmia detection: limited (expected)</a:t>
            </a:r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Shows the path forward: domain adaptation needed for multi-site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11247120" cy="1828800"/>
          </a:xfrm>
          <a:prstGeom prst="rect">
            <a:avLst/>
          </a:prstGeom>
          <a:solidFill>
            <a:srgbClr val="0A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  <a:latin typeface="Segoe UI"/>
              </a:defRPr>
            </a:pPr>
            <a:r>
              <a:t>This result demonstrates scientific rigor. Most hackathon/research projects never test on external data. Showing this - even with imperfect results - proves we understand real-world deployment challenges and sets our project apart from those that only show inflated numbers on their training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11. Key Results &amp; What They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E5555"/>
                </a:solidFill>
                <a:latin typeface="Segoe UI"/>
              </a:defRPr>
            </a:pPr>
            <a:r>
              <a:t>98.8%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PVC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Catches nearly every dangerous beat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097280"/>
            <a:ext cx="265176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D3"/>
                </a:solidFill>
                <a:latin typeface="Segoe UI"/>
              </a:defRPr>
            </a:pPr>
            <a:r>
              <a:t>82.0%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On patients NEVER seen in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65176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B86FC"/>
                </a:solidFill>
                <a:latin typeface="Segoe UI"/>
              </a:defRPr>
            </a:pPr>
            <a:r>
              <a:t>608K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Lightweight model, runs anywhere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097280"/>
            <a:ext cx="2651760" cy="18288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59" y="1188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Segoe UI"/>
              </a:defRPr>
            </a:pPr>
            <a:r>
              <a:t>&lt;5ms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Inference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59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Segoe UI"/>
              </a:defRPr>
            </a:pPr>
            <a:r>
              <a:t>Real-time on CPU, no GPU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5486400" cy="32004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Precision vs Recall (Explained Simply)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RECALL = Of all actual PVCs, what % did we catch?</a:t>
            </a:r>
          </a:p>
          <a:p>
            <a:pPr>
              <a:spcBef>
                <a:spcPts val="600"/>
              </a:spcBef>
              <a:defRPr sz="1300" b="0">
                <a:solidFill>
                  <a:srgbClr val="00E676"/>
                </a:solidFill>
                <a:latin typeface="Segoe UI"/>
              </a:defRPr>
            </a:pPr>
            <a:r>
              <a:t>98.8% = we only miss 1.2% of dangerous beats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PRECISION = Of our PVC alerts, what % were real?</a:t>
            </a:r>
          </a:p>
          <a:p>
            <a:pPr>
              <a:spcBef>
                <a:spcPts val="600"/>
              </a:spcBef>
              <a:defRPr sz="1300" b="0">
                <a:solidFill>
                  <a:srgbClr val="FFA502"/>
                </a:solidFill>
                <a:latin typeface="Segoe UI"/>
              </a:defRPr>
            </a:pPr>
            <a:r>
              <a:t>41.5% = some false alarms, but safe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300" b="1">
                <a:solidFill>
                  <a:srgbClr val="FFD93D"/>
                </a:solidFill>
                <a:latin typeface="Segoe UI"/>
              </a:defRPr>
            </a:pPr>
            <a:r>
              <a:t>Think SMOKE DETECTOR: Better to have false alarms than miss a real fire. We prioritize HIGH RECALL for patient safety.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5486400" cy="32004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Model Evolution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v1: Basic CNN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  67.3% accuracy | 96.8% V recall</a:t>
            </a:r>
          </a:p>
          <a:p>
            <a:pPr>
              <a:spcBef>
                <a:spcPts val="800"/>
              </a:spcBef>
              <a:defRPr sz="1400" b="0">
                <a:solidFill>
                  <a:srgbClr val="BBBBCC"/>
                </a:solidFill>
                <a:latin typeface="Segoe UI"/>
              </a:defRPr>
            </a:pPr>
            <a:r>
              <a:t>v2: + Class Weights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  81.4% accuracy | 96.8% V recall</a:t>
            </a:r>
          </a:p>
          <a:p>
            <a:pPr>
              <a:spcBef>
                <a:spcPts val="800"/>
              </a:spcBef>
              <a:defRPr sz="1400" b="0">
                <a:solidFill>
                  <a:srgbClr val="FFFFFF"/>
                </a:solidFill>
                <a:latin typeface="Segoe UI"/>
              </a:defRPr>
            </a:pPr>
            <a:r>
              <a:t>v3: + Residual CNN + Focal Loss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      81.1% accuracy | 97.2% V recall</a:t>
            </a:r>
          </a:p>
          <a:p>
            <a:pPr>
              <a:spcBef>
                <a:spcPts val="800"/>
              </a:spcBef>
              <a:defRPr sz="1400" b="1">
                <a:solidFill>
                  <a:srgbClr val="00E676"/>
                </a:solidFill>
                <a:latin typeface="Segoe UI"/>
              </a:defRPr>
            </a:pPr>
            <a:r>
              <a:t>v4: + Dual-Input + RR Features</a:t>
            </a:r>
          </a:p>
          <a:p>
            <a:pPr>
              <a:spcBef>
                <a:spcPts val="600"/>
              </a:spcBef>
              <a:defRPr sz="1200" b="1">
                <a:solidFill>
                  <a:srgbClr val="00E676"/>
                </a:solidFill>
                <a:latin typeface="Segoe UI"/>
              </a:defRPr>
            </a:pPr>
            <a:r>
              <a:t>      82.0% accuracy | 98.8% V recall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D3"/>
                </a:solidFill>
                <a:latin typeface="Segoe UI"/>
              </a:defRPr>
            </a:pPr>
            <a:r>
              <a:t>12. How All Files Connect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2860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Pipeline Flow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400" b="1">
                <a:solidFill>
                  <a:srgbClr val="00D2D3"/>
                </a:solidFill>
                <a:latin typeface="Segoe UI"/>
              </a:defRPr>
            </a:pPr>
            <a:r>
              <a:t>STEP 1: data_prep.py                    STEP 2: train_model.py                  STEP 3: app.py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Download from PhysioNet          Load .npy files                         Load trained model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Segment beats                          Oversample + Augment                 Live ECG playback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Normalize + RR features           Build Dual-Input CNN                  Real-time classification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Save .npy files            ---&gt;     Train with Focal Loss       ---&gt;     Display alerts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                                          Save .keras model                      Performance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Main Scripts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data_prep.py - Downloads &amp; processes data (run FIRST)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train_model.py - Trains the AI model (run SECOND)</a:t>
            </a:r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app.py - Dashboard for live demo (run ANYTIME)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noise_robustness.py - Tests noise resilience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external_validation.py - Tests on INCART database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create_ppt.py - Generates pitch deck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run_dashboard.bat - One-click launcher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657600"/>
            <a:ext cx="5486400" cy="2743200"/>
          </a:xfrm>
          <a:prstGeom prst="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Segoe UI"/>
              </a:defRPr>
            </a:pPr>
            <a:r>
              <a:t>Output Files (output/ folder)</a:t>
            </a:r>
          </a:p>
          <a:p>
            <a:pPr>
              <a:spcBef>
                <a:spcPts val="600"/>
              </a:spcBef>
              <a:defRPr sz="600" b="0">
                <a:solidFill>
                  <a:srgbClr val="BBBBCC"/>
                </a:solidFill>
                <a:latin typeface="Segoe UI"/>
              </a:defRPr>
            </a:pPr>
            <a:endParaRPr/>
          </a:p>
          <a:p>
            <a:pPr>
              <a:spcBef>
                <a:spcPts val="600"/>
              </a:spcBef>
              <a:defRPr sz="1200" b="0">
                <a:solidFill>
                  <a:srgbClr val="FFFFFF"/>
                </a:solidFill>
                <a:latin typeface="Segoe UI"/>
              </a:defRPr>
            </a:pPr>
            <a:r>
              <a:t>ecg_model.keras - Trained AI model (2.3 MB)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X_train.npy, y_train.npy - Training data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RR_train.npy, RR_test.npy - Timing features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metrics.json - Accuracy numbers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confusion_matrix.png - Prediction grid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noise_robustness_curve.png - Noise plot</a:t>
            </a:r>
          </a:p>
          <a:p>
            <a:pPr>
              <a:spcBef>
                <a:spcPts val="600"/>
              </a:spcBef>
              <a:defRPr sz="1200" b="0">
                <a:solidFill>
                  <a:srgbClr val="BBBBCC"/>
                </a:solidFill>
                <a:latin typeface="Segoe UI"/>
              </a:defRPr>
            </a:pPr>
            <a:r>
              <a:t>demo_recordings/*.npz - Dashboard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2D3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Real-Time AI ECG Arrhythmia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Segoe UI"/>
              </a:defRPr>
            </a:pPr>
            <a:r>
              <a:t>Now you understand every part of this project!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D93D"/>
                </a:solidFill>
                <a:latin typeface="Segoe UI"/>
              </a:defRPr>
            </a:pPr>
            <a:r>
              <a:t>Built with Python | TensorFlow | Streamlit | MIT-BIH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2514</Words>
  <Application>Microsoft Office PowerPoint</Application>
  <PresentationFormat>Widescreen</PresentationFormat>
  <Paragraphs>272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NISHANT CHAND</cp:lastModifiedBy>
  <cp:revision>2</cp:revision>
  <dcterms:created xsi:type="dcterms:W3CDTF">2013-01-27T09:14:16Z</dcterms:created>
  <dcterms:modified xsi:type="dcterms:W3CDTF">2026-09-20T10:48:13Z</dcterms:modified>
  <cp:category/>
</cp:coreProperties>
</file>